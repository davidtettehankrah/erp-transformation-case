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36386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56124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024276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78915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1157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4780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0298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174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58924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3047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5941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5406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7478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98963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94265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80850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6304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84DC94-A06D-45EC-8E4A-B66D560558DC}" type="datetimeFigureOut">
              <a:rPr lang="en-GH" smtClean="0"/>
              <a:t>24/05/2026</a:t>
            </a:fld>
            <a:endParaRPr lang="en-G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7989CDD-33B7-4E32-8B29-5D9892E9B57E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5405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9CA7-E108-5B8D-4814-BAFBDC06D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64" y="1786465"/>
            <a:ext cx="6841069" cy="1540935"/>
          </a:xfrm>
        </p:spPr>
        <p:txBody>
          <a:bodyPr>
            <a:normAutofit fontScale="90000"/>
          </a:bodyPr>
          <a:lstStyle/>
          <a:p>
            <a:r>
              <a:rPr lang="en-US" dirty="0"/>
              <a:t>Alpha Manufacturing Group(AMG)</a:t>
            </a:r>
            <a:endParaRPr lang="en-G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1625A-CE36-1E93-5E7F-0DE1E8530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4834" y="3530600"/>
            <a:ext cx="7556500" cy="1854200"/>
          </a:xfrm>
        </p:spPr>
        <p:txBody>
          <a:bodyPr>
            <a:noAutofit/>
          </a:bodyPr>
          <a:lstStyle/>
          <a:p>
            <a:r>
              <a:rPr lang="en-US" sz="2200" dirty="0"/>
              <a:t>Recommended Approach for the ERM Transformation Case</a:t>
            </a:r>
          </a:p>
          <a:p>
            <a:endParaRPr lang="en-US" sz="2200" dirty="0"/>
          </a:p>
          <a:p>
            <a:r>
              <a:rPr lang="en-US" sz="2200" dirty="0"/>
              <a:t>David Tetteh Ankrah</a:t>
            </a:r>
          </a:p>
          <a:p>
            <a:r>
              <a:rPr lang="en-US" sz="2200" dirty="0"/>
              <a:t>23</a:t>
            </a:r>
            <a:r>
              <a:rPr lang="en-US" sz="2200" baseline="30000" dirty="0"/>
              <a:t>rd</a:t>
            </a:r>
            <a:r>
              <a:rPr lang="en-US" sz="2200" dirty="0"/>
              <a:t> May 2026</a:t>
            </a:r>
            <a:endParaRPr lang="en-GH" sz="2200" dirty="0"/>
          </a:p>
        </p:txBody>
      </p:sp>
    </p:spTree>
    <p:extLst>
      <p:ext uri="{BB962C8B-B14F-4D97-AF65-F5344CB8AC3E}">
        <p14:creationId xmlns:p14="http://schemas.microsoft.com/office/powerpoint/2010/main" val="308633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92AB8-DB1A-450D-DA4D-89B764DC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491066"/>
            <a:ext cx="9601196" cy="1303867"/>
          </a:xfrm>
        </p:spPr>
        <p:txBody>
          <a:bodyPr/>
          <a:lstStyle/>
          <a:p>
            <a:r>
              <a:rPr lang="en-US" dirty="0"/>
              <a:t>Current State Overview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D21AE-93F6-E7DF-E226-3D62F53C3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794933"/>
            <a:ext cx="10261600" cy="4233334"/>
          </a:xfrm>
        </p:spPr>
        <p:txBody>
          <a:bodyPr>
            <a:normAutofit/>
          </a:bodyPr>
          <a:lstStyle/>
          <a:p>
            <a:r>
              <a:rPr lang="en-US" sz="2400" dirty="0"/>
              <a:t>Core ERP : Finance, Manufacturing/MRP, Procurement (~80 users).</a:t>
            </a:r>
          </a:p>
          <a:p>
            <a:endParaRPr lang="en-US" sz="2400" dirty="0"/>
          </a:p>
          <a:p>
            <a:r>
              <a:rPr lang="en-US" sz="2400" dirty="0"/>
              <a:t>Financial: 80% of custom order saw margin erosion last year.</a:t>
            </a:r>
          </a:p>
          <a:p>
            <a:endParaRPr lang="en-US" sz="2400" dirty="0"/>
          </a:p>
          <a:p>
            <a:r>
              <a:rPr lang="en-US" sz="2400" dirty="0"/>
              <a:t>Operational: BOM sync failures are causing manufacturing delays.</a:t>
            </a:r>
          </a:p>
          <a:p>
            <a:endParaRPr lang="en-US" sz="2400" dirty="0"/>
          </a:p>
          <a:p>
            <a:r>
              <a:rPr lang="en-US" sz="2400" dirty="0"/>
              <a:t>Technology: Core ERP is 20 years old; landscape is fragmented and Excel-heavy.</a:t>
            </a:r>
          </a:p>
        </p:txBody>
      </p:sp>
    </p:spTree>
    <p:extLst>
      <p:ext uri="{BB962C8B-B14F-4D97-AF65-F5344CB8AC3E}">
        <p14:creationId xmlns:p14="http://schemas.microsoft.com/office/powerpoint/2010/main" val="371234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9624-D375-4D22-2845-BE29C3BA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015A-C366-2E9E-6331-490ACCB5E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85284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sz="2400" dirty="0"/>
              <a:t>The objectives listed in order are:</a:t>
            </a:r>
          </a:p>
          <a:p>
            <a:r>
              <a:rPr lang="en-US" sz="2400" dirty="0"/>
              <a:t>Ensuring daily operations run during the transition.</a:t>
            </a:r>
          </a:p>
          <a:p>
            <a:endParaRPr lang="en-US" sz="2400" dirty="0"/>
          </a:p>
          <a:p>
            <a:r>
              <a:rPr lang="en-US" sz="2400" dirty="0"/>
              <a:t>Delivery of reliable margin visibility on custom orders.</a:t>
            </a:r>
          </a:p>
          <a:p>
            <a:endParaRPr lang="en-US" sz="2400" dirty="0"/>
          </a:p>
          <a:p>
            <a:r>
              <a:rPr lang="en-US" sz="2400" dirty="0"/>
              <a:t>Fixing the engineering-to-ERP data flow.</a:t>
            </a:r>
          </a:p>
          <a:p>
            <a:endParaRPr lang="en-US" sz="2400" dirty="0"/>
          </a:p>
          <a:p>
            <a:r>
              <a:rPr lang="en-US" sz="2400" dirty="0"/>
              <a:t>Simplifying the application landscape and reducing heavy Excel reliance and building a foundation for future improvements.</a:t>
            </a:r>
          </a:p>
          <a:p>
            <a:endParaRPr lang="en-US" sz="2400" dirty="0"/>
          </a:p>
          <a:p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625725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54B6-E074-2FD6-FF13-96735266E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Approach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F9F3-A145-1267-4593-E5453BD64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85284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sz="2400" dirty="0"/>
              <a:t>A phased, 12-month project with a narrow first go-live. The various phases are:</a:t>
            </a:r>
          </a:p>
          <a:p>
            <a:r>
              <a:rPr lang="en-US" sz="2400" dirty="0"/>
              <a:t>Phase 1(Months 1-3): Discovery and Design.</a:t>
            </a:r>
          </a:p>
          <a:p>
            <a:endParaRPr lang="en-US" sz="2400" dirty="0"/>
          </a:p>
          <a:p>
            <a:r>
              <a:rPr lang="en-US" sz="2400" dirty="0"/>
              <a:t>Phase 2(Months 3-7): Building and Configuration.</a:t>
            </a:r>
          </a:p>
          <a:p>
            <a:endParaRPr lang="en-US" sz="2400" dirty="0"/>
          </a:p>
          <a:p>
            <a:r>
              <a:rPr lang="en-US" sz="2400" dirty="0"/>
              <a:t>Phase 3(Months 7-10): Training and Testing.</a:t>
            </a:r>
          </a:p>
          <a:p>
            <a:pPr marL="36900" indent="0">
              <a:buNone/>
            </a:pPr>
            <a:endParaRPr lang="en-US" sz="2400" dirty="0"/>
          </a:p>
          <a:p>
            <a:r>
              <a:rPr lang="en-US" sz="2400" dirty="0"/>
              <a:t>Phase 4(Months 10-12): Cutover Stage and Care Period.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1149760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F782-FDF0-B567-F04D-DF5FDAB0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Scope</a:t>
            </a:r>
            <a:endParaRPr lang="en-GH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E20920-E0D5-9B23-9808-F63E28933D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3086797"/>
              </p:ext>
            </p:extLst>
          </p:nvPr>
        </p:nvGraphicFramePr>
        <p:xfrm>
          <a:off x="914399" y="1731962"/>
          <a:ext cx="10532534" cy="4516438"/>
        </p:xfrm>
        <a:graphic>
          <a:graphicData uri="http://schemas.openxmlformats.org/drawingml/2006/table">
            <a:tbl>
              <a:tblPr firstRow="1" bandRow="1" bandCol="1">
                <a:tableStyleId>{2D5ABB26-0587-4C30-8999-92F81FD0307C}</a:tableStyleId>
              </a:tblPr>
              <a:tblGrid>
                <a:gridCol w="5266267">
                  <a:extLst>
                    <a:ext uri="{9D8B030D-6E8A-4147-A177-3AD203B41FA5}">
                      <a16:colId xmlns:a16="http://schemas.microsoft.com/office/drawing/2014/main" val="1474556316"/>
                    </a:ext>
                  </a:extLst>
                </a:gridCol>
                <a:gridCol w="5266267">
                  <a:extLst>
                    <a:ext uri="{9D8B030D-6E8A-4147-A177-3AD203B41FA5}">
                      <a16:colId xmlns:a16="http://schemas.microsoft.com/office/drawing/2014/main" val="1428045435"/>
                    </a:ext>
                  </a:extLst>
                </a:gridCol>
              </a:tblGrid>
              <a:tr h="92114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 for first go-live</a:t>
                      </a:r>
                      <a:endParaRPr lang="en-GH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OUT for first go-live(deferred to phase two)</a:t>
                      </a:r>
                      <a:endParaRPr lang="en-GH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622711"/>
                  </a:ext>
                </a:extLst>
              </a:tr>
              <a:tr h="3595292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Core finance functions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Order-to-cash flow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Manufacturing and MRP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Engineering-to-ERP integration(BOMs)</a:t>
                      </a:r>
                      <a:endParaRPr lang="en-GH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CRM integration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HRIS and payroll integration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Advanced analytics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US" sz="2400" dirty="0"/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Supplier and customer portals</a:t>
                      </a:r>
                      <a:endParaRPr lang="en-GH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380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2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56BC-7228-4A1E-7A97-35E7CBB0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Scope and Customization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25A2B-C579-89E4-E81F-ED182DB17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 only the defined ERP process unless it goes against a documented business reason.</a:t>
            </a:r>
          </a:p>
          <a:p>
            <a:endParaRPr lang="en-US" sz="2400" dirty="0"/>
          </a:p>
          <a:p>
            <a:r>
              <a:rPr lang="en-US" sz="2400" dirty="0"/>
              <a:t>Customizations are only approved by the Steering Committee, not by individual stakeholders.</a:t>
            </a:r>
          </a:p>
          <a:p>
            <a:endParaRPr lang="en-US" sz="2400" dirty="0"/>
          </a:p>
          <a:p>
            <a:r>
              <a:rPr lang="en-US" sz="2400" dirty="0"/>
              <a:t>Non-essential features for go-live go to phase two automatically.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1604606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033C-E0F0-E036-38FE-2CE5B539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Migration Strategy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80EF-DD99-BB90-29FA-1DB26D2E6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Master data(customers, vendors etc.) and transactions from past two years are fully migrated.</a:t>
            </a:r>
          </a:p>
          <a:p>
            <a:endParaRPr lang="en-US" sz="2400" dirty="0"/>
          </a:p>
          <a:p>
            <a:r>
              <a:rPr lang="en-US" sz="2400" dirty="0"/>
              <a:t>Closed orders and jobs from past two years are only accessible in summary form.</a:t>
            </a:r>
          </a:p>
          <a:p>
            <a:endParaRPr lang="en-US" sz="2400" dirty="0"/>
          </a:p>
          <a:p>
            <a:r>
              <a:rPr lang="en-US" sz="2400" dirty="0"/>
              <a:t>Everything older than eight years is stored in a separate archive, read-only access is available to finance and audit.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2684667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DF306-B2A6-ECA2-2735-F9BA82F4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Reporting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3836-780B-3EC1-DC6A-5662F5761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Bridge reports to pull data from both ERPs into one view during the transition.</a:t>
            </a:r>
          </a:p>
          <a:p>
            <a:endParaRPr lang="en-US" sz="2400" dirty="0"/>
          </a:p>
          <a:p>
            <a:r>
              <a:rPr lang="en-US" sz="2400" dirty="0"/>
              <a:t>Run a parallel close in both systems for the first month after go-live, reconcile before declaring new ERP as the source of truth.</a:t>
            </a:r>
          </a:p>
          <a:p>
            <a:endParaRPr lang="en-US" sz="2400" dirty="0"/>
          </a:p>
          <a:p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1361200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86C86-9769-B5EF-B329-56965570B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and How they will be managed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820A-9E35-557F-27C1-0E14D6444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Scope creep: Enforcing the phase two backlog rule mentioned earlier.</a:t>
            </a:r>
          </a:p>
          <a:p>
            <a:endParaRPr lang="en-US" sz="2400" dirty="0"/>
          </a:p>
          <a:p>
            <a:r>
              <a:rPr lang="en-US" sz="2400" dirty="0"/>
              <a:t>Poor data quality: Data cleanup starts before data migration to prevent inconsistencies.</a:t>
            </a:r>
          </a:p>
          <a:p>
            <a:endParaRPr lang="en-US" sz="2400" dirty="0"/>
          </a:p>
          <a:p>
            <a:r>
              <a:rPr lang="en-US" sz="2400" dirty="0"/>
              <a:t>Customization indiscipline: Ensuring changes are only approved by the Steering Committee. 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287284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F7F2-285D-CF64-66B1-9DA8DEF67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0933"/>
            <a:ext cx="10353762" cy="970450"/>
          </a:xfrm>
        </p:spPr>
        <p:txBody>
          <a:bodyPr/>
          <a:lstStyle/>
          <a:p>
            <a:r>
              <a:rPr lang="en-US" dirty="0"/>
              <a:t>Next steps if approach is approved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78E4-4B9A-8137-AC3F-3B6285066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41383"/>
            <a:ext cx="10353762" cy="5498084"/>
          </a:xfrm>
        </p:spPr>
        <p:txBody>
          <a:bodyPr>
            <a:noAutofit/>
          </a:bodyPr>
          <a:lstStyle/>
          <a:p>
            <a:r>
              <a:rPr lang="en-US" sz="2400" dirty="0"/>
              <a:t>Mobilization of project team, appointment of executive sponsor and steering committee.</a:t>
            </a:r>
          </a:p>
          <a:p>
            <a:endParaRPr lang="en-US" sz="2400" dirty="0"/>
          </a:p>
          <a:p>
            <a:r>
              <a:rPr lang="en-US" sz="2400" dirty="0"/>
              <a:t>ERP vendor shortlist created and demo sessions scheduled.</a:t>
            </a:r>
          </a:p>
          <a:p>
            <a:endParaRPr lang="en-US" sz="2400" dirty="0"/>
          </a:p>
          <a:p>
            <a:r>
              <a:rPr lang="en-US" sz="2400" dirty="0"/>
              <a:t>End of Month 1: Erp vendor selected and contract signed.</a:t>
            </a:r>
          </a:p>
          <a:p>
            <a:endParaRPr lang="en-US" sz="2400" dirty="0"/>
          </a:p>
          <a:p>
            <a:r>
              <a:rPr lang="en-US" sz="2400" dirty="0"/>
              <a:t>End of Month 2: Detailed scope documentation and approval of project charter.</a:t>
            </a:r>
          </a:p>
          <a:p>
            <a:endParaRPr lang="en-US" sz="2400" dirty="0"/>
          </a:p>
          <a:p>
            <a:r>
              <a:rPr lang="en-US" sz="2400" dirty="0"/>
              <a:t>End of Month 3: Phase 1 complete, Phase 2 underway.</a:t>
            </a:r>
          </a:p>
          <a:p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2862049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B420-B23F-178C-2DF2-3CC467B6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757D-E97F-91DC-BD24-775331C18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phased 12-month project with a narrow first go-live.</a:t>
            </a:r>
          </a:p>
          <a:p>
            <a:endParaRPr lang="en-US" sz="2400" dirty="0"/>
          </a:p>
          <a:p>
            <a:r>
              <a:rPr lang="en-US" sz="2400" dirty="0"/>
              <a:t>Initial scope: Finance, Manufacturing, Procurement, BOM integration, margin reporting.</a:t>
            </a:r>
          </a:p>
          <a:p>
            <a:endParaRPr lang="en-US" sz="2400" dirty="0"/>
          </a:p>
          <a:p>
            <a:r>
              <a:rPr lang="en-US" sz="2400" dirty="0"/>
              <a:t>Three major risks were identified in the recommendation, finance and reporting are protected throughout the project.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175271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56</TotalTime>
  <Words>524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Wingdings 2</vt:lpstr>
      <vt:lpstr>Slate</vt:lpstr>
      <vt:lpstr>Alpha Manufacturing Group(AMG)</vt:lpstr>
      <vt:lpstr>Current State Overview</vt:lpstr>
      <vt:lpstr>Project Objectives</vt:lpstr>
      <vt:lpstr>Recommended Approach</vt:lpstr>
      <vt:lpstr>Initial Scope</vt:lpstr>
      <vt:lpstr>Controlling Scope and Customization</vt:lpstr>
      <vt:lpstr>Data Migration Strategy</vt:lpstr>
      <vt:lpstr>Data and Reporting</vt:lpstr>
      <vt:lpstr>Risks and How they will be managed</vt:lpstr>
      <vt:lpstr>Next steps if approach is approved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Ankrah</dc:creator>
  <cp:lastModifiedBy>David Ankrah</cp:lastModifiedBy>
  <cp:revision>1</cp:revision>
  <dcterms:created xsi:type="dcterms:W3CDTF">2026-05-24T22:04:38Z</dcterms:created>
  <dcterms:modified xsi:type="dcterms:W3CDTF">2026-05-24T23:00:52Z</dcterms:modified>
</cp:coreProperties>
</file>